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Source Sans Pro" panose="020B0503030403020204" pitchFamily="34" charset="0"/>
      <p:regular r:id="rId6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991225"/>
            <a:ext cx="108204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3432720"/>
            <a:ext cx="2562225" cy="1352550"/>
          </a:xfrm>
          <a:prstGeom prst="roundRect">
            <a:avLst>
              <a:gd name="adj" fmla="val 84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438525" y="3432720"/>
            <a:ext cx="2562225" cy="1352550"/>
          </a:xfrm>
          <a:prstGeom prst="roundRect">
            <a:avLst>
              <a:gd name="adj" fmla="val 84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91250" y="3432720"/>
            <a:ext cx="2562225" cy="1352550"/>
          </a:xfrm>
          <a:prstGeom prst="roundRect">
            <a:avLst>
              <a:gd name="adj" fmla="val 84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943975" y="3432720"/>
            <a:ext cx="2562225" cy="1352550"/>
          </a:xfrm>
          <a:prstGeom prst="roundRect">
            <a:avLst>
              <a:gd name="adj" fmla="val 845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5991225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48775" y="533400"/>
            <a:ext cx="2257425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 u="none" dirty="0">
                <a:solidFill>
                  <a:srgbClr val="38BDF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FA24-BEDS-056 </a:t>
            </a:r>
            <a:r>
              <a:rPr sz="1200" b="1" i="0" u="none" dirty="0">
                <a:solidFill>
                  <a:srgbClr val="CBD5E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Muhammad Mubashar Murtaza</a:t>
            </a:r>
            <a:r>
              <a:rPr sz="1800" b="1" i="0" u="none" dirty="0">
                <a:solidFill>
                  <a:srgbClr val="38BDF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sz="1050" b="1" i="0" u="none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Section B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237" y="6128877"/>
            <a:ext cx="442428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Source: PSLM 2019–20 Microdata · Population estimates weighted by hhweight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2775" y="6153150"/>
            <a:ext cx="418063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Deliverables: 2 R figures, 1 makeover, Python verification, and GitHub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3400"/>
            <a:ext cx="423834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ECO346 · DATA VISUALIZATION TECHNIQUES FOR ECONOMISTS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47725"/>
            <a:ext cx="8301037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 dirty="0">
                <a:solidFill>
                  <a:srgbClr val="F8FAF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ECO346 Assignment 1 — Variant 0: Punjab Rural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88641"/>
            <a:ext cx="586057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Education Spending and Gender Literacy in Rural Punjab (PSLM 2019–20)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661320"/>
            <a:ext cx="7165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MY VARIANT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889920"/>
            <a:ext cx="1147750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56 = 7 × 8 + 0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194720"/>
            <a:ext cx="21240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Punjab Rural (Province 2, Area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5225" y="3661320"/>
            <a:ext cx="89607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TOTAL 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5225" y="3889920"/>
            <a:ext cx="141224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35,925 Persons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5225" y="4194720"/>
            <a:ext cx="21240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24,630 analyzed for literacy (10–64)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3661320"/>
            <a:ext cx="114614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STUDENTS SAMPLE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3889920"/>
            <a:ext cx="1401025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9,173 Students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4194720"/>
            <a:ext cx="2124075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Positive education spending (&gt;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3661320"/>
            <a:ext cx="78066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CODE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0675" y="3889920"/>
            <a:ext cx="1300036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4D399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0.0 Difference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0675" y="4194720"/>
            <a:ext cx="212407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 and Python tables match completely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038850"/>
            <a:ext cx="10972800" cy="400050"/>
          </a:xfrm>
          <a:prstGeom prst="roundRect">
            <a:avLst>
              <a:gd name="adj" fmla="val 190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640234"/>
            <a:ext cx="5353050" cy="3806130"/>
          </a:xfrm>
          <a:prstGeom prst="roundRect">
            <a:avLst>
              <a:gd name="adj" fmla="val 30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29350" y="1640234"/>
            <a:ext cx="5353050" cy="3806130"/>
          </a:xfrm>
          <a:prstGeom prst="roundRect">
            <a:avLst>
              <a:gd name="adj" fmla="val 300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9625" y="2731740"/>
            <a:ext cx="4953000" cy="1714500"/>
          </a:xfrm>
          <a:prstGeom prst="roundRect">
            <a:avLst>
              <a:gd name="adj" fmla="val 4444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625" y="1849784"/>
            <a:ext cx="1228725" cy="219075"/>
          </a:xfrm>
          <a:prstGeom prst="roundRect">
            <a:avLst>
              <a:gd name="adj" fmla="val 2608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62025" y="2960340"/>
            <a:ext cx="4648200" cy="571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62025" y="4160490"/>
            <a:ext cx="4648200" cy="5715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29375" y="1849784"/>
            <a:ext cx="1209675" cy="219075"/>
          </a:xfrm>
          <a:prstGeom prst="roundRect">
            <a:avLst>
              <a:gd name="adj" fmla="val 2608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2731740"/>
            <a:ext cx="4953000" cy="1714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855565"/>
            <a:ext cx="4705350" cy="1466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603402"/>
            <a:ext cx="13335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851052"/>
            <a:ext cx="13335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5098702"/>
            <a:ext cx="13335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603402"/>
            <a:ext cx="13335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851052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5098702"/>
            <a:ext cx="133350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00050"/>
            <a:ext cx="72455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QUESTION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28650"/>
            <a:ext cx="6136295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>
                <a:solidFill>
                  <a:srgbClr val="0F172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Makeover: Default (Left) vs Redesign (Right)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6153150"/>
            <a:ext cx="63815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3415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Simple takeaway:</a:t>
            </a:r>
            <a:r>
              <a:rPr sz="1050" b="0" i="0" u="none" dirty="0">
                <a:solidFill>
                  <a:srgbClr val="33415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Replacing overlapping dots with age group averages makes the data easy to read in 3 seconds.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1887884"/>
            <a:ext cx="1133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DEFAULT R FIGURE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2135534"/>
            <a:ext cx="149720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Heavy Overplotting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2411759"/>
            <a:ext cx="2673809" cy="179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24,630 points fall on two straight lines (0 and 1).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4974" y="3512790"/>
            <a:ext cx="208230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24,630 black dots covering each other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4579590"/>
            <a:ext cx="3682098" cy="161583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Points overlap:</a:t>
            </a:r>
            <a:r>
              <a:rPr sz="1050" b="0" i="0" u="none">
                <a:solidFill>
                  <a:srgbClr val="DC262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You cannot see how many people are literate.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4827240"/>
            <a:ext cx="3154710" cy="161583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 weights:</a:t>
            </a:r>
            <a:r>
              <a:rPr sz="1050" b="0" i="0" u="none">
                <a:solidFill>
                  <a:srgbClr val="DC262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Does not represent the true population.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625" y="5074890"/>
            <a:ext cx="3218830" cy="161583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Men and women mixed:</a:t>
            </a:r>
            <a:r>
              <a:rPr sz="1050" b="0" i="0" u="none">
                <a:solidFill>
                  <a:srgbClr val="DC262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Hides the gender difference.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625" y="1887884"/>
            <a:ext cx="1114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REDESIGN FIGURE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2135534"/>
            <a:ext cx="191558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Clear Group Rates by 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375" y="2411759"/>
            <a:ext cx="4188647" cy="1793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0369A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Weighted literacy rate by age band, shown separately for men and women.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375" y="4579590"/>
            <a:ext cx="3771866" cy="161583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Calculated averages:</a:t>
            </a:r>
            <a:r>
              <a:rPr sz="1050" b="0" i="0" u="none">
                <a:solidFill>
                  <a:srgbClr val="0369A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Dots turned into clear percentage trends.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9375" y="4827240"/>
            <a:ext cx="3847207" cy="161583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Direct labels:</a:t>
            </a:r>
            <a:r>
              <a:rPr sz="1050" b="0" i="0" u="none">
                <a:solidFill>
                  <a:srgbClr val="0369A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Labels placed right at line ends, no legend needed.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5074890"/>
            <a:ext cx="3791102" cy="161583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Trade-off:</a:t>
            </a:r>
            <a:r>
              <a:rPr sz="1050" b="0" i="0" u="none">
                <a:solidFill>
                  <a:srgbClr val="0369A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Shows rates clearly, but hides individual sample size.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92585"/>
            <a:ext cx="3292078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30278" y="2592585"/>
            <a:ext cx="3292078" cy="2038350"/>
          </a:xfrm>
          <a:prstGeom prst="roundRect">
            <a:avLst>
              <a:gd name="adj" fmla="val 56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50956" y="2346126"/>
            <a:ext cx="3931443" cy="2531268"/>
          </a:xfrm>
          <a:prstGeom prst="roundRect">
            <a:avLst>
              <a:gd name="adj" fmla="val 451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248251"/>
            <a:ext cx="4623060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Sample: 24,630 individuals aged 10–64 with non-missing literacy · Weighted by hhweight.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25354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QUESTION 3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66750"/>
            <a:ext cx="7017947" cy="3591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Key Finding: Large Gender Gap in Older Generations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690" y="2859285"/>
            <a:ext cx="365789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Widest Gap (Ages 55–59)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7368" y="2859285"/>
            <a:ext cx="365789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Narrow Gap (Ages 15–19)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8257" y="3145035"/>
            <a:ext cx="1474763" cy="5443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DC262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766" y="3754635"/>
            <a:ext cx="178574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3415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Men: 50.8% · Women: 15.0%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746" y="4011810"/>
            <a:ext cx="351978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Older rural women were largely left out of school.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0801" y="3145035"/>
            <a:ext cx="1191031" cy="5443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284C7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6.7%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3444" y="3754635"/>
            <a:ext cx="178574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3415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Men: 79.8% · Women: 73.1%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6424" y="4011810"/>
            <a:ext cx="351978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Young women are rapidly catching up with men.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181" y="2584251"/>
            <a:ext cx="270586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This Tells Us (How to Present)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181" y="2917626"/>
            <a:ext cx="3474243" cy="371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14532D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Generational progress:</a:t>
            </a:r>
            <a:r>
              <a:rPr sz="1050" b="0" i="0" u="none">
                <a:solidFill>
                  <a:srgbClr val="14532D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Young rural women have much higher literacy (73.1%) than older women (15.0%).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181" y="3591817"/>
            <a:ext cx="3474243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14532D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Gap still remains:</a:t>
            </a:r>
            <a:r>
              <a:rPr sz="1050" b="0" i="0" u="none">
                <a:solidFill>
                  <a:srgbClr val="14532D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Even among young people, boys still lead by 6.7 percentage points.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181" y="4079378"/>
            <a:ext cx="3474243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14532D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One limitation:</a:t>
            </a:r>
            <a:r>
              <a:rPr sz="1050" b="0" i="0" u="none">
                <a:solidFill>
                  <a:srgbClr val="14532D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This survey was done at one point in time. It shows different age groups, not people getting less literate as they 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096000"/>
            <a:ext cx="10972800" cy="38100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1347019"/>
            <a:ext cx="6108650" cy="4119716"/>
          </a:xfrm>
          <a:prstGeom prst="roundRect">
            <a:avLst>
              <a:gd name="adj" fmla="val 39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0575" y="4557712"/>
            <a:ext cx="57467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984950" y="2105025"/>
            <a:ext cx="4597449" cy="1171575"/>
          </a:xfrm>
          <a:prstGeom prst="roundRect">
            <a:avLst>
              <a:gd name="adj" fmla="val 81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984950" y="3390900"/>
            <a:ext cx="4597449" cy="85725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984950" y="4362450"/>
            <a:ext cx="4597449" cy="561975"/>
          </a:xfrm>
          <a:prstGeom prst="roundRect">
            <a:avLst>
              <a:gd name="adj" fmla="val 1694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0575" y="4557712"/>
            <a:ext cx="5746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1930502"/>
            <a:ext cx="5746700" cy="301435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550" y="4662487"/>
            <a:ext cx="762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601" y="4662487"/>
            <a:ext cx="76200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925" y="4505325"/>
            <a:ext cx="104775" cy="123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381000"/>
            <a:ext cx="72455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QUESTION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90550"/>
            <a:ext cx="6756658" cy="346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>
                <a:solidFill>
                  <a:srgbClr val="0F172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Education Spending Varies Widely Across Households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6210300"/>
            <a:ext cx="723435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Conclusion: While youth literacy in rural Punjab is improving, extreme spending inequalities (15× gap) persist between households.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77475" y="6210300"/>
            <a:ext cx="97943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THANK YOU / Q&amp;A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1573929"/>
            <a:ext cx="212878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3415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WEIGHTED HISTOGRAM (LOG10 SCALE)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5250" y="1560717"/>
            <a:ext cx="88004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 = 9,173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1401" y="5144882"/>
            <a:ext cx="1040349" cy="150041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0F172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Median: Rs 6,600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5601" y="5144882"/>
            <a:ext cx="1543692" cy="150041"/>
          </a:xfrm>
          <a:prstGeom prst="rect">
            <a:avLst/>
          </a:prstGeom>
          <a:noFill/>
        </p:spPr>
        <p:txBody>
          <a:bodyPr wrap="none" lIns="11430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D9770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90th Percentile: Rs 30,000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4975" y="2266950"/>
            <a:ext cx="140423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15× SPENDING DISPARITY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4975" y="2457450"/>
            <a:ext cx="1314462" cy="3000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D9770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15.00 Times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4975" y="2809875"/>
            <a:ext cx="429264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top 10% spend Rs 30,000 or more, while the bottom 10% spend Rs 2,000 or less.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4975" y="3552825"/>
            <a:ext cx="121026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MEDIAN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4975" y="3743325"/>
            <a:ext cx="158376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Weighted Median: Rs 6,600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4975" y="3933825"/>
            <a:ext cx="381194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Survey weights adjust for sampling so it reflects all rural Punjab students.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5925" y="4486275"/>
            <a:ext cx="1394613" cy="150041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Code Validation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5925" y="4657725"/>
            <a:ext cx="331982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5803D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 and Python literacy tables produce 0.0 difference across all 22 cells.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24A3C6B2-0F6A-688A-CCD2-7B33C2BF92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1106" y="2105024"/>
            <a:ext cx="5191432" cy="26717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529</Words>
  <Application>Microsoft Office PowerPoint</Application>
  <PresentationFormat>Widescreen</PresentationFormat>
  <Paragraphs>65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FA24-BED-056(MUHAMMAD MUBASHAR MURTAZA)</cp:lastModifiedBy>
  <cp:revision>3</cp:revision>
  <dcterms:created xsi:type="dcterms:W3CDTF">2013-01-27T09:14:16Z</dcterms:created>
  <dcterms:modified xsi:type="dcterms:W3CDTF">2026-10-26T15:10:37Z</dcterms:modified>
  <cp:category/>
</cp:coreProperties>
</file>