
<file path=[Content_Types].xml><?xml version="1.0" encoding="utf-8"?>
<Types xmlns="http://schemas.openxmlformats.org/package/2006/content-types"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1.xml" ContentType="application/vnd.openxmlformats-officedocument.drawingml.chart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Variant" id="{157CB96E-CBF9-7D9A-B376-05152349043E}">
          <p14:sldIdLst>
            <p14:sldId id="256"/>
          </p14:sldIdLst>
        </p14:section>
        <p14:section name="Makeover" id="{7E5E17CA-C4AD-10BF-8E9E-95C41DAD2907}">
          <p14:sldIdLst>
            <p14:sldId id="257"/>
          </p14:sldIdLst>
        </p14:section>
        <p14:section name="Finding" id="{5149DCD2-EA27-E32F-0CC6-330256DB6D13}">
          <p14:sldIdLst>
            <p14:sldId id="258"/>
          </p14:sldIdLst>
        </p14:section>
        <p14:section name="Distribution" id="{ECACEB71-018F-BBB7-3A4C-3367B561F38C}">
          <p14:sldIdLst>
            <p14:sldId id="259"/>
            <p14:sldId id="26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10"/>
  </p:normalViewPr>
  <p:slideViewPr>
    <p:cSldViewPr snapToGrid="0" snapToObjects="1">
      <p:cViewPr varScale="1">
        <p:scale>
          <a:sx n="92" d="100"/>
          <a:sy n="92" d="100"/>
        </p:scale>
        <p:origin x="564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B2A41"/>
                </a:solidFill>
                <a:latin typeface="+mn-lt"/>
              </a:defRPr>
            </a:pPr>
            <a:r>
              <a:rPr lang="en-GB" sz="1200" b="0" i="0" u="none" strike="noStrike">
                <a:solidFill>
                  <a:srgbClr val="1B2A41"/>
                </a:solidFill>
                <a:latin typeface="+mn-lt"/>
              </a:rPr>
              <a:t>Weighted literacy rate by age band (%)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Men</c:v>
                </c:pt>
              </c:strCache>
            </c:strRef>
          </c:tx>
          <c:spPr>
            <a:ln w="38100" cap="flat">
              <a:solidFill>
                <a:srgbClr val="1F77B4"/>
              </a:solidFill>
              <a:prstDash val="solid"/>
              <a:round/>
            </a:ln>
            <a:effectLst/>
          </c:spPr>
          <c:marker>
            <c:symbol val="circle"/>
            <c:size val="7"/>
            <c:spPr>
              <a:solidFill>
                <a:srgbClr val="1F77B4"/>
              </a:solidFill>
              <a:ln w="9525" cap="flat">
                <a:solidFill>
                  <a:srgbClr val="1F77B4"/>
                </a:solidFill>
                <a:prstDash val="solid"/>
                <a:round/>
              </a:ln>
              <a:effectLst/>
            </c:spPr>
          </c:marker>
          <c:cat>
            <c:strRef>
              <c:f>Sheet1!$A$2:$A$12</c:f>
              <c:strCache>
                <c:ptCount val="11"/>
                <c:pt idx="0">
                  <c:v>10–14</c:v>
                </c:pt>
                <c:pt idx="1">
                  <c:v>15–19</c:v>
                </c:pt>
                <c:pt idx="2">
                  <c:v>20–24</c:v>
                </c:pt>
                <c:pt idx="3">
                  <c:v>25–29</c:v>
                </c:pt>
                <c:pt idx="4">
                  <c:v>30–34</c:v>
                </c:pt>
                <c:pt idx="5">
                  <c:v>35–39</c:v>
                </c:pt>
                <c:pt idx="6">
                  <c:v>40–44</c:v>
                </c:pt>
                <c:pt idx="7">
                  <c:v>45–49</c:v>
                </c:pt>
                <c:pt idx="8">
                  <c:v>50–54</c:v>
                </c:pt>
                <c:pt idx="9">
                  <c:v>55–59</c:v>
                </c:pt>
                <c:pt idx="10">
                  <c:v>60–64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80.400000000000006</c:v>
                </c:pt>
                <c:pt idx="1">
                  <c:v>79.8</c:v>
                </c:pt>
                <c:pt idx="2">
                  <c:v>74.900000000000006</c:v>
                </c:pt>
                <c:pt idx="3">
                  <c:v>68.099999999999994</c:v>
                </c:pt>
                <c:pt idx="4">
                  <c:v>65.900000000000006</c:v>
                </c:pt>
                <c:pt idx="5">
                  <c:v>63.5</c:v>
                </c:pt>
                <c:pt idx="6">
                  <c:v>61.3</c:v>
                </c:pt>
                <c:pt idx="7">
                  <c:v>56.5</c:v>
                </c:pt>
                <c:pt idx="8">
                  <c:v>52.8</c:v>
                </c:pt>
                <c:pt idx="9">
                  <c:v>50.8</c:v>
                </c:pt>
                <c:pt idx="10">
                  <c:v>45.5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06F-4985-8D3B-AC6F484C719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Women</c:v>
                </c:pt>
              </c:strCache>
            </c:strRef>
          </c:tx>
          <c:spPr>
            <a:ln w="38100" cap="flat">
              <a:solidFill>
                <a:srgbClr val="D62728"/>
              </a:solidFill>
              <a:prstDash val="solid"/>
              <a:round/>
            </a:ln>
            <a:effectLst/>
          </c:spPr>
          <c:marker>
            <c:symbol val="circle"/>
            <c:size val="7"/>
            <c:spPr>
              <a:solidFill>
                <a:srgbClr val="D62728"/>
              </a:solidFill>
              <a:ln w="9525" cap="flat">
                <a:solidFill>
                  <a:srgbClr val="D62728"/>
                </a:solidFill>
                <a:prstDash val="solid"/>
                <a:round/>
              </a:ln>
              <a:effectLst/>
            </c:spPr>
          </c:marker>
          <c:cat>
            <c:strRef>
              <c:f>Sheet1!$A$2:$A$12</c:f>
              <c:strCache>
                <c:ptCount val="11"/>
                <c:pt idx="0">
                  <c:v>10–14</c:v>
                </c:pt>
                <c:pt idx="1">
                  <c:v>15–19</c:v>
                </c:pt>
                <c:pt idx="2">
                  <c:v>20–24</c:v>
                </c:pt>
                <c:pt idx="3">
                  <c:v>25–29</c:v>
                </c:pt>
                <c:pt idx="4">
                  <c:v>30–34</c:v>
                </c:pt>
                <c:pt idx="5">
                  <c:v>35–39</c:v>
                </c:pt>
                <c:pt idx="6">
                  <c:v>40–44</c:v>
                </c:pt>
                <c:pt idx="7">
                  <c:v>45–49</c:v>
                </c:pt>
                <c:pt idx="8">
                  <c:v>50–54</c:v>
                </c:pt>
                <c:pt idx="9">
                  <c:v>55–59</c:v>
                </c:pt>
                <c:pt idx="10">
                  <c:v>60–64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74.5</c:v>
                </c:pt>
                <c:pt idx="1">
                  <c:v>73.099999999999994</c:v>
                </c:pt>
                <c:pt idx="2">
                  <c:v>63.1</c:v>
                </c:pt>
                <c:pt idx="3">
                  <c:v>52.9</c:v>
                </c:pt>
                <c:pt idx="4">
                  <c:v>45.4</c:v>
                </c:pt>
                <c:pt idx="5">
                  <c:v>39.6</c:v>
                </c:pt>
                <c:pt idx="6">
                  <c:v>30.7</c:v>
                </c:pt>
                <c:pt idx="7">
                  <c:v>25.9</c:v>
                </c:pt>
                <c:pt idx="8">
                  <c:v>17.600000000000001</c:v>
                </c:pt>
                <c:pt idx="9">
                  <c:v>15</c:v>
                </c:pt>
                <c:pt idx="10">
                  <c:v>12.3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06F-4985-8D3B-AC6F484C719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B2A4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5DBE3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B2A41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B2A41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411725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Variant: registration number ends in 56, 56 = 7 x 8 + 0, so variant 0 = Punjab rural (prov_code 2, urban_rural 1). 35,925 persons in the variant. Literacy sample (ages 10-64, literate not missing) = 24,630. Students (ed_total &gt; 0) = 9,173. Everything is weighted by hhweight.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Default = ggplot(data, aes(age, literate)) + geom_point(): two rows of dots, thousands of people on each spot (overplotting), no weights, no sex split. Redesign: weighted conditional means by five-year band (aligned position on a common scale), women and men as two labelled lines (no legend), 0-100% axis. Hidden by the redesign: variation within bands and the counts behind each rate. Insert both SVGs from the figures folder with Insert &gt; Pictures and size them over the grey frames.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 important finding: the male-female literacy gap widens with age, from 6.7 points at 15-19 to 35.8 points at 55-59 (the largest gap). Consistent with expanding schooling for younger cohorts, especially girls. Limit: one cross-section cannot separate ageing from cohort effects.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Weighted histogram on a log10 scale: median Rs 6,600, 90th percentile Rs 30,000, ratio 15 (P90 / P10 = 30,000 / 2,000). Unweighted median is Rs 7,000. 3 students outside Rs 100 to Rs 1,000,000 excluded. Insert figures/distribution.svg over the grey frame. Python recomputation matches the R band table in all 22 cells.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804672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endParaRPr lang="en-US" sz="3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804672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en-US" sz="3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chemeClr val="bg1"/>
                </a:solidFill>
              </a:rPr>
              <a:t>Variant 0: Punjab rural</a:t>
            </a:r>
            <a:endParaRPr lang="en-US" sz="3600" dirty="0"/>
          </a:p>
        </p:txBody>
      </p:sp>
      <p:sp>
        <p:nvSpPr>
          <p:cNvPr id="3" name="Variant rule"/>
          <p:cNvSpPr txBox="1"/>
          <p:nvPr/>
        </p:nvSpPr>
        <p:spPr>
          <a:xfrm>
            <a:off x="548640" y="11430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bg2"/>
                </a:solidFill>
              </a:rPr>
              <a:t>56 = 7 × 8 + 0   ·   prov_code = 2, urban_rural</a:t>
            </a:r>
            <a:r>
              <a:rPr lang="en-US" sz="1600" baseline="-25000" dirty="0">
                <a:solidFill>
                  <a:schemeClr val="bg2"/>
                </a:solidFill>
              </a:rPr>
              <a:t> </a:t>
            </a:r>
            <a:r>
              <a:rPr lang="en-US" sz="1600" dirty="0">
                <a:solidFill>
                  <a:schemeClr val="bg2"/>
                </a:solidFill>
              </a:rPr>
              <a:t> = 1</a:t>
            </a:r>
            <a:endParaRPr lang="en-US" sz="1600" dirty="0"/>
          </a:p>
        </p:txBody>
      </p:sp>
      <p:sp>
        <p:nvSpPr>
          <p:cNvPr id="4" name="Card 1"/>
          <p:cNvSpPr/>
          <p:nvPr/>
        </p:nvSpPr>
        <p:spPr>
          <a:xfrm>
            <a:off x="548640" y="1783080"/>
            <a:ext cx="2514600" cy="1828800"/>
          </a:xfrm>
          <a:prstGeom prst="rect">
            <a:avLst/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5" name="Card number 1"/>
          <p:cNvSpPr txBox="1"/>
          <p:nvPr/>
        </p:nvSpPr>
        <p:spPr>
          <a:xfrm>
            <a:off x="731520" y="192024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chemeClr val="bg1"/>
                </a:solidFill>
              </a:rPr>
              <a:t>35,925</a:t>
            </a:r>
            <a:endParaRPr lang="en-US" sz="4400" dirty="0"/>
          </a:p>
        </p:txBody>
      </p:sp>
      <p:sp>
        <p:nvSpPr>
          <p:cNvPr id="6" name="Card label 1"/>
          <p:cNvSpPr txBox="1"/>
          <p:nvPr/>
        </p:nvSpPr>
        <p:spPr>
          <a:xfrm>
            <a:off x="731520" y="274320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bg2"/>
                </a:solidFill>
              </a:rPr>
              <a:t>persons in my variant</a:t>
            </a:r>
            <a:endParaRPr lang="en-US" sz="1400" dirty="0"/>
          </a:p>
        </p:txBody>
      </p:sp>
      <p:sp>
        <p:nvSpPr>
          <p:cNvPr id="7" name="Card 2"/>
          <p:cNvSpPr/>
          <p:nvPr/>
        </p:nvSpPr>
        <p:spPr>
          <a:xfrm>
            <a:off x="3314700" y="1783080"/>
            <a:ext cx="2514600" cy="1828800"/>
          </a:xfrm>
          <a:prstGeom prst="rect">
            <a:avLst/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8" name="Card number 2"/>
          <p:cNvSpPr txBox="1"/>
          <p:nvPr/>
        </p:nvSpPr>
        <p:spPr>
          <a:xfrm>
            <a:off x="3497580" y="192024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chemeClr val="bg1"/>
                </a:solidFill>
              </a:rPr>
              <a:t>24,630</a:t>
            </a:r>
            <a:endParaRPr lang="en-US" sz="4400" dirty="0"/>
          </a:p>
        </p:txBody>
      </p:sp>
      <p:sp>
        <p:nvSpPr>
          <p:cNvPr id="9" name="Card label 2"/>
          <p:cNvSpPr txBox="1"/>
          <p:nvPr/>
        </p:nvSpPr>
        <p:spPr>
          <a:xfrm>
            <a:off x="3497580" y="274320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bg2"/>
                </a:solidFill>
              </a:rPr>
              <a:t>aged 10–64 with literacy recorded</a:t>
            </a:r>
            <a:endParaRPr lang="en-US" sz="1400" dirty="0"/>
          </a:p>
        </p:txBody>
      </p:sp>
      <p:sp>
        <p:nvSpPr>
          <p:cNvPr id="10" name="Card 3"/>
          <p:cNvSpPr/>
          <p:nvPr/>
        </p:nvSpPr>
        <p:spPr>
          <a:xfrm>
            <a:off x="6080760" y="1783080"/>
            <a:ext cx="2514600" cy="1828800"/>
          </a:xfrm>
          <a:prstGeom prst="rect">
            <a:avLst/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n-PK"/>
          </a:p>
        </p:txBody>
      </p:sp>
      <p:sp>
        <p:nvSpPr>
          <p:cNvPr id="11" name="Card number 3"/>
          <p:cNvSpPr txBox="1"/>
          <p:nvPr/>
        </p:nvSpPr>
        <p:spPr>
          <a:xfrm>
            <a:off x="6263640" y="192024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chemeClr val="bg1"/>
                </a:solidFill>
              </a:rPr>
              <a:t>9,173</a:t>
            </a:r>
            <a:endParaRPr lang="en-US" sz="4400" dirty="0"/>
          </a:p>
        </p:txBody>
      </p:sp>
      <p:sp>
        <p:nvSpPr>
          <p:cNvPr id="12" name="Card label 3"/>
          <p:cNvSpPr txBox="1"/>
          <p:nvPr/>
        </p:nvSpPr>
        <p:spPr>
          <a:xfrm>
            <a:off x="6263640" y="274320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bg2"/>
                </a:solidFill>
              </a:rPr>
              <a:t>students with spending above zero</a:t>
            </a:r>
            <a:endParaRPr lang="en-US" sz="1400" dirty="0"/>
          </a:p>
        </p:txBody>
      </p:sp>
      <p:sp>
        <p:nvSpPr>
          <p:cNvPr id="13" name="Source"/>
          <p:cNvSpPr txBox="1"/>
          <p:nvPr/>
        </p:nvSpPr>
        <p:spPr>
          <a:xfrm>
            <a:off x="548640" y="39319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bg2"/>
                </a:solidFill>
              </a:rPr>
              <a:t>Source: PSLM 2019–20 person and household files, weighted by hhweight</a:t>
            </a:r>
            <a:endParaRPr lang="en-US" sz="1400" dirty="0"/>
          </a:p>
        </p:txBody>
      </p:sp>
      <p:sp>
        <p:nvSpPr>
          <p:cNvPr id="14" name="Author"/>
          <p:cNvSpPr txBox="1"/>
          <p:nvPr/>
        </p:nvSpPr>
        <p:spPr>
          <a:xfrm>
            <a:off x="548640" y="429768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accent6"/>
                </a:solidFill>
              </a:rPr>
              <a:t>Muhammad Mubashar Murtaza  ·  FA24-BEDS-056  ·  Section B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chemeClr val="tx1"/>
                </a:solidFill>
              </a:rPr>
              <a:t>Raw dots become rates</a:t>
            </a:r>
            <a:endParaRPr lang="en-US" sz="3600" dirty="0"/>
          </a:p>
        </p:txBody>
      </p:sp>
      <p:sp>
        <p:nvSpPr>
          <p:cNvPr id="3" name="Default figure frame"/>
          <p:cNvSpPr/>
          <p:nvPr/>
        </p:nvSpPr>
        <p:spPr>
          <a:xfrm>
            <a:off x="822960" y="1280160"/>
            <a:ext cx="2743200" cy="2743200"/>
          </a:xfrm>
          <a:prstGeom prst="rect">
            <a:avLst/>
          </a:prstGeom>
          <a:solidFill>
            <a:schemeClr val="bg2"/>
          </a:solidFill>
          <a:ln w="12700">
            <a:solidFill>
              <a:schemeClr val="accent6"/>
            </a:solidFill>
            <a:prstDash val="dash"/>
          </a:ln>
        </p:spPr>
        <p:txBody>
          <a:bodyPr/>
          <a:lstStyle/>
          <a:p>
            <a:endParaRPr lang="en-PK"/>
          </a:p>
        </p:txBody>
      </p:sp>
      <p:sp>
        <p:nvSpPr>
          <p:cNvPr id="4" name="Default figure frame label"/>
          <p:cNvSpPr txBox="1"/>
          <p:nvPr/>
        </p:nvSpPr>
        <p:spPr>
          <a:xfrm>
            <a:off x="822960" y="1280160"/>
            <a:ext cx="2743200" cy="274320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5" name="Redesign figure frame"/>
          <p:cNvSpPr/>
          <p:nvPr/>
        </p:nvSpPr>
        <p:spPr>
          <a:xfrm>
            <a:off x="3931920" y="1280160"/>
            <a:ext cx="4389120" cy="2743200"/>
          </a:xfrm>
          <a:prstGeom prst="rect">
            <a:avLst/>
          </a:prstGeom>
          <a:solidFill>
            <a:schemeClr val="bg2"/>
          </a:solidFill>
          <a:ln w="12700">
            <a:solidFill>
              <a:schemeClr val="accent6"/>
            </a:solidFill>
            <a:prstDash val="dash"/>
          </a:ln>
        </p:spPr>
        <p:txBody>
          <a:bodyPr/>
          <a:lstStyle/>
          <a:p>
            <a:endParaRPr lang="en-PK"/>
          </a:p>
        </p:txBody>
      </p:sp>
      <p:sp>
        <p:nvSpPr>
          <p:cNvPr id="6" name="Redesign figure frame label"/>
          <p:cNvSpPr txBox="1"/>
          <p:nvPr/>
        </p:nvSpPr>
        <p:spPr>
          <a:xfrm>
            <a:off x="3931920" y="1280160"/>
            <a:ext cx="4389120" cy="274320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7" name="Default caption"/>
          <p:cNvSpPr txBox="1"/>
          <p:nvPr/>
        </p:nvSpPr>
        <p:spPr>
          <a:xfrm>
            <a:off x="822960" y="41148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Default: 24,630 points on two rows, overplotted</a:t>
            </a:r>
            <a:endParaRPr lang="en-US" sz="1400" dirty="0"/>
          </a:p>
        </p:txBody>
      </p:sp>
      <p:sp>
        <p:nvSpPr>
          <p:cNvPr id="8" name="Redesign caption"/>
          <p:cNvSpPr txBox="1"/>
          <p:nvPr/>
        </p:nvSpPr>
        <p:spPr>
          <a:xfrm>
            <a:off x="3931920" y="411480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Redesign: weighted literacy rate by age band, women vs men</a:t>
            </a:r>
            <a:endParaRPr lang="en-US" sz="1400" dirty="0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738138BF-845F-66C3-9358-E96FF5B3FB1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28997" y="1234440"/>
            <a:ext cx="3014748" cy="2880360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DD7A4DEA-519B-DEC9-D60F-BEA52ACFB00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837707" y="1234440"/>
            <a:ext cx="4537365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chemeClr val="tx1"/>
                </a:solidFill>
              </a:rPr>
              <a:t>Women fall behind with age</a:t>
            </a:r>
            <a:endParaRPr lang="en-US" sz="3600" dirty="0"/>
          </a:p>
        </p:txBody>
      </p:sp>
      <p:graphicFrame>
        <p:nvGraphicFramePr>
          <p:cNvPr id="3" name="Literacy chart"/>
          <p:cNvGraphicFramePr/>
          <p:nvPr/>
        </p:nvGraphicFramePr>
        <p:xfrm>
          <a:off x="457200" y="1234440"/>
          <a:ext cx="5303520" cy="3429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Gap number 1"/>
          <p:cNvSpPr txBox="1"/>
          <p:nvPr/>
        </p:nvSpPr>
        <p:spPr>
          <a:xfrm>
            <a:off x="6035040" y="128016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chemeClr val="accent2"/>
                </a:solidFill>
              </a:rPr>
              <a:t>35.8</a:t>
            </a:r>
            <a:endParaRPr lang="en-US" sz="5400" dirty="0"/>
          </a:p>
        </p:txBody>
      </p:sp>
      <p:sp>
        <p:nvSpPr>
          <p:cNvPr id="5" name="Gap label 1"/>
          <p:cNvSpPr txBox="1"/>
          <p:nvPr/>
        </p:nvSpPr>
        <p:spPr>
          <a:xfrm>
            <a:off x="6035040" y="210312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point gap at ages 55–59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(women 15.0%, men 50.8%)</a:t>
            </a:r>
            <a:endParaRPr lang="en-US" sz="1400" dirty="0"/>
          </a:p>
        </p:txBody>
      </p:sp>
      <p:sp>
        <p:nvSpPr>
          <p:cNvPr id="6" name="Gap number 2"/>
          <p:cNvSpPr txBox="1"/>
          <p:nvPr/>
        </p:nvSpPr>
        <p:spPr>
          <a:xfrm>
            <a:off x="6035040" y="301752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chemeClr val="tx1"/>
                </a:solidFill>
              </a:rPr>
              <a:t>6.7</a:t>
            </a:r>
            <a:endParaRPr lang="en-US" sz="5400" dirty="0"/>
          </a:p>
        </p:txBody>
      </p:sp>
      <p:sp>
        <p:nvSpPr>
          <p:cNvPr id="7" name="Gap label 2"/>
          <p:cNvSpPr txBox="1"/>
          <p:nvPr/>
        </p:nvSpPr>
        <p:spPr>
          <a:xfrm>
            <a:off x="6035040" y="384048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point gap at ages 15–19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(women 73.1%, men 79.8%)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chemeClr val="bg1"/>
                </a:solidFill>
              </a:rPr>
              <a:t>Spending varies widely</a:t>
            </a:r>
            <a:endParaRPr lang="en-US" sz="3600" dirty="0"/>
          </a:p>
        </p:txBody>
      </p:sp>
      <p:sp>
        <p:nvSpPr>
          <p:cNvPr id="3" name="Stat number 1"/>
          <p:cNvSpPr txBox="1"/>
          <p:nvPr/>
        </p:nvSpPr>
        <p:spPr>
          <a:xfrm>
            <a:off x="548640" y="128016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chemeClr val="bg1"/>
                </a:solidFill>
              </a:rPr>
              <a:t>Rs 6,600</a:t>
            </a:r>
            <a:endParaRPr lang="en-US" sz="3600" dirty="0"/>
          </a:p>
        </p:txBody>
      </p:sp>
      <p:sp>
        <p:nvSpPr>
          <p:cNvPr id="4" name="Stat label 1"/>
          <p:cNvSpPr txBox="1"/>
          <p:nvPr/>
        </p:nvSpPr>
        <p:spPr>
          <a:xfrm>
            <a:off x="548640" y="18288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bg2"/>
                </a:solidFill>
              </a:rPr>
              <a:t>weighted median per student</a:t>
            </a:r>
            <a:endParaRPr lang="en-US" sz="1400" dirty="0"/>
          </a:p>
        </p:txBody>
      </p:sp>
      <p:sp>
        <p:nvSpPr>
          <p:cNvPr id="5" name="Stat number 2"/>
          <p:cNvSpPr txBox="1"/>
          <p:nvPr/>
        </p:nvSpPr>
        <p:spPr>
          <a:xfrm>
            <a:off x="548640" y="228600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chemeClr val="bg1"/>
                </a:solidFill>
              </a:rPr>
              <a:t>Rs 30,000</a:t>
            </a:r>
            <a:endParaRPr lang="en-US" sz="3600" dirty="0"/>
          </a:p>
        </p:txBody>
      </p:sp>
      <p:sp>
        <p:nvSpPr>
          <p:cNvPr id="6" name="Stat label 2"/>
          <p:cNvSpPr txBox="1"/>
          <p:nvPr/>
        </p:nvSpPr>
        <p:spPr>
          <a:xfrm>
            <a:off x="548640" y="28346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bg2"/>
                </a:solidFill>
              </a:rPr>
              <a:t>weighted 90th percentile</a:t>
            </a:r>
            <a:endParaRPr lang="en-US" sz="1400" dirty="0"/>
          </a:p>
        </p:txBody>
      </p:sp>
      <p:sp>
        <p:nvSpPr>
          <p:cNvPr id="7" name="Stat number 3"/>
          <p:cNvSpPr txBox="1"/>
          <p:nvPr/>
        </p:nvSpPr>
        <p:spPr>
          <a:xfrm>
            <a:off x="548640" y="329184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chemeClr val="bg1"/>
                </a:solidFill>
              </a:rPr>
              <a:t>15×</a:t>
            </a:r>
            <a:endParaRPr lang="en-US" sz="3600" dirty="0"/>
          </a:p>
        </p:txBody>
      </p:sp>
      <p:sp>
        <p:nvSpPr>
          <p:cNvPr id="8" name="Stat label 3"/>
          <p:cNvSpPr txBox="1"/>
          <p:nvPr/>
        </p:nvSpPr>
        <p:spPr>
          <a:xfrm>
            <a:off x="548640" y="38404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bg2"/>
                </a:solidFill>
              </a:rPr>
              <a:t>90th percentile vs 10th (Rs 2,000)</a:t>
            </a:r>
            <a:endParaRPr lang="en-US" sz="1400" dirty="0"/>
          </a:p>
        </p:txBody>
      </p:sp>
      <p:sp>
        <p:nvSpPr>
          <p:cNvPr id="9" name="Distribution figure frame"/>
          <p:cNvSpPr/>
          <p:nvPr/>
        </p:nvSpPr>
        <p:spPr>
          <a:xfrm>
            <a:off x="4114800" y="1280160"/>
            <a:ext cx="4389120" cy="2743200"/>
          </a:xfrm>
          <a:prstGeom prst="rect">
            <a:avLst/>
          </a:prstGeom>
          <a:solidFill>
            <a:schemeClr val="bg2"/>
          </a:solidFill>
          <a:ln w="12700">
            <a:solidFill>
              <a:schemeClr val="accent6"/>
            </a:solidFill>
            <a:prstDash val="dash"/>
          </a:ln>
        </p:spPr>
        <p:txBody>
          <a:bodyPr/>
          <a:lstStyle/>
          <a:p>
            <a:endParaRPr lang="en-PK"/>
          </a:p>
        </p:txBody>
      </p:sp>
      <p:sp>
        <p:nvSpPr>
          <p:cNvPr id="10" name="Distribution figure frame label"/>
          <p:cNvSpPr txBox="1"/>
          <p:nvPr/>
        </p:nvSpPr>
        <p:spPr>
          <a:xfrm>
            <a:off x="4114800" y="1280160"/>
            <a:ext cx="4389120" cy="274320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11" name="Reproducibility check"/>
          <p:cNvSpPr txBox="1"/>
          <p:nvPr/>
        </p:nvSpPr>
        <p:spPr>
          <a:xfrm>
            <a:off x="548640" y="4343400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accent6"/>
                </a:solidFill>
              </a:rPr>
              <a:t>Check: R and Python literacy tables agree in all 22 cells (difference 0.0)</a:t>
            </a:r>
            <a:endParaRPr lang="en-US" sz="1200" dirty="0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AF6C8653-75D5-99A8-455F-93D635C6E2A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59382" y="1219200"/>
            <a:ext cx="4535977" cy="28041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FFD48BC7-DC40-47DE-87EE-9F4B6ECB9A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9" name="Freeform: Shape 8">
            <a:extLst>
              <a:ext uri="{FF2B5EF4-FFF2-40B4-BE49-F238E27FC236}">
                <a16:creationId xmlns:a16="http://schemas.microsoft.com/office/drawing/2014/main" id="{E502BBC7-2C76-46F3-BC24-5985BC13DB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35818" y="0"/>
            <a:ext cx="7472363" cy="51435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139700" sx="102000" sy="102000" algn="ctr" rotWithShape="0">
              <a:schemeClr val="bg1">
                <a:lumMod val="85000"/>
                <a:alpha val="3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1" name="Freeform: Shape 10">
            <a:extLst>
              <a:ext uri="{FF2B5EF4-FFF2-40B4-BE49-F238E27FC236}">
                <a16:creationId xmlns:a16="http://schemas.microsoft.com/office/drawing/2014/main" id="{C7F28D52-2A5F-4D23-81AE-7CB8B591C7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41248" y="0"/>
            <a:ext cx="7461504" cy="51435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95E7BF2-8982-7C7A-1D87-5E7123599866}"/>
              </a:ext>
            </a:extLst>
          </p:cNvPr>
          <p:cNvSpPr>
            <a:spLocks noGrp="1"/>
          </p:cNvSpPr>
          <p:nvPr>
            <p:ph type="title" idx="100"/>
          </p:nvPr>
        </p:nvSpPr>
        <p:spPr>
          <a:xfrm>
            <a:off x="1143002" y="1499711"/>
            <a:ext cx="6858000" cy="2073021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>
              <a:lnSpc>
                <a:spcPct val="90000"/>
              </a:lnSpc>
            </a:pPr>
            <a:r>
              <a:rPr lang="en-US" sz="5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Thank you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629484E-3792-4B3D-89AD-7C8A1ED0E0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788920" y="4143589"/>
            <a:ext cx="3566160" cy="2057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06012240"/>
      </p:ext>
    </p:extLst>
  </p:cSld>
  <p:clrMapOvr>
    <a:masterClrMapping/>
  </p:clrMapOvr>
</p:sld>
</file>

<file path=ppt/theme/theme1.xml><?xml version="1.0" encoding="utf-8"?>
<a:theme xmlns:a="http://schemas.openxmlformats.org/drawingml/2006/main" name="ECO346 A1">
  <a:themeElements>
    <a:clrScheme name="ECO346 A1">
      <a:dk1>
        <a:srgbClr val="1B2A41"/>
      </a:dk1>
      <a:lt1>
        <a:srgbClr val="FFFFFF"/>
      </a:lt1>
      <a:dk2>
        <a:srgbClr val="0F1F33"/>
      </a:dk2>
      <a:lt2>
        <a:srgbClr val="EEF2F6"/>
      </a:lt2>
      <a:accent1>
        <a:srgbClr val="1F77B4"/>
      </a:accent1>
      <a:accent2>
        <a:srgbClr val="D62728"/>
      </a:accent2>
      <a:accent3>
        <a:srgbClr val="2A9D8F"/>
      </a:accent3>
      <a:accent4>
        <a:srgbClr val="E9A23B"/>
      </a:accent4>
      <a:accent5>
        <a:srgbClr val="6B7A8F"/>
      </a:accent5>
      <a:accent6>
        <a:srgbClr val="8D99AE"/>
      </a:accent6>
      <a:hlink>
        <a:srgbClr val="1F77B4"/>
      </a:hlink>
      <a:folHlink>
        <a:srgbClr val="6B7A8F"/>
      </a:folHlink>
    </a:clrScheme>
    <a:fontScheme name="ECO346 A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457</Words>
  <Application>Microsoft Office PowerPoint</Application>
  <PresentationFormat>On-screen Show (16:9)</PresentationFormat>
  <Paragraphs>38</Paragraphs>
  <Slides>5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Calibri</vt:lpstr>
      <vt:lpstr>Cambria</vt:lpstr>
      <vt:lpstr>ECO346 A1</vt:lpstr>
      <vt:lpstr>Variant 0: Punjab rural</vt:lpstr>
      <vt:lpstr>Raw dots become rates</vt:lpstr>
      <vt:lpstr>Women fall behind with age</vt:lpstr>
      <vt:lpstr>Spending varies widely</vt:lpstr>
      <vt:lpstr>Thank you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ECO346 Assignment 1 - FA24-BEDS-056</dc:title>
  <dc:subject>PptxGenJS Presentation</dc:subject>
  <dc:creator>Muhammad Mubashar Murtaza</dc:creator>
  <cp:lastModifiedBy>FA24-BED-056(MUHAMMAD MUBASHAR MURTAZA)</cp:lastModifiedBy>
  <cp:revision>7</cp:revision>
  <dcterms:created xsi:type="dcterms:W3CDTF">2026-10-25T07:42:35Z</dcterms:created>
  <dcterms:modified xsi:type="dcterms:W3CDTF">2026-10-25T08:24:09Z</dcterms:modified>
</cp:coreProperties>
</file>